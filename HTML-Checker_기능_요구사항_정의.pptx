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5C2B"/>
                </a:solidFill>
                <a:latin typeface="Consolas"/>
              </a:rPr>
              <a:t>🧐 HTML CHECKER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4807A"/>
                </a:solidFill>
                <a:latin typeface="Consolas"/>
              </a:rPr>
              <a:t>v1.0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6070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6000" b="1">
                <a:solidFill>
                  <a:srgbClr val="FFFFFF"/>
                </a:solidFill>
                <a:latin typeface="맑은 고딕"/>
              </a:rPr>
              <a:t>번역 검수 효율을</a:t>
            </a:r>
          </a:p>
          <a:p>
            <a:pPr>
              <a:lnSpc>
                <a:spcPct val="105000"/>
              </a:lnSpc>
            </a:pPr>
            <a:r>
              <a:rPr sz="6000" b="1">
                <a:solidFill>
                  <a:srgbClr val="FF5C2B"/>
                </a:solidFill>
                <a:latin typeface="맑은 고딕"/>
              </a:rPr>
              <a:t>극대화</a:t>
            </a:r>
            <a:r>
              <a:rPr sz="6000" b="1">
                <a:solidFill>
                  <a:srgbClr val="FFFFFF"/>
                </a:solidFill>
                <a:latin typeface="맑은 고딕"/>
              </a:rPr>
              <a:t>하는 사내 QA 도구.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754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1">
                <a:solidFill>
                  <a:srgbClr val="84807A"/>
                </a:solidFill>
                <a:latin typeface="Cambria"/>
              </a:rPr>
              <a:t>전체 기능 &amp; 요구사항 정의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6126480"/>
            <a:ext cx="10607040" cy="0"/>
          </a:xfrm>
          <a:prstGeom prst="line">
            <a:avLst/>
          </a:prstGeom>
          <a:ln w="6350">
            <a:solidFill>
              <a:srgbClr val="4A4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263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84807A"/>
                </a:solidFill>
                <a:latin typeface="Consolas"/>
              </a:rPr>
              <a:t>FLITTO IMAGE TEAM · BUILT BY @BLANKERS2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26364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FF5C2B"/>
                </a:solidFill>
                <a:latin typeface="Consolas"/>
              </a:rP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F5C2B"/>
                </a:solidFill>
                <a:latin typeface="Consolas"/>
              </a:rPr>
              <a:t>§01 ·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1A1614"/>
                </a:solidFill>
                <a:latin typeface="맑은 고딕"/>
              </a:rPr>
              <a:t>도구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4A4744"/>
                </a:solidFill>
                <a:latin typeface="맑은 고딕"/>
              </a:rPr>
              <a:t>한 줄 요약 — EN/JA 번역본과 KO 원본을 한 화면에서 비교·검수하는 브라우저 기반 QA 도구.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2625013" cy="3291840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20040" cy="45720"/>
          </a:xfrm>
          <a:prstGeom prst="rect">
            <a:avLst/>
          </a:prstGeom>
          <a:solidFill>
            <a:srgbClr val="FF5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2076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F5C2B"/>
                </a:solidFill>
                <a:latin typeface="Consolas"/>
              </a:rPr>
              <a:t>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207637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A1614"/>
                </a:solidFill>
                <a:latin typeface="맑은 고딕"/>
              </a:rPr>
              <a:t>마케팅 HTML
번역 검수 도구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69079"/>
            <a:ext cx="207637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4A4744"/>
                </a:solidFill>
                <a:latin typeface="맑은 고딕"/>
              </a:rPr>
              <a:t>EN/JA 번역본을 KO 원본과 함께 비교·검수.
드래그앤드롭으로 시작, 1초 이내 로드.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02253" y="2194560"/>
            <a:ext cx="2625013" cy="3291840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02253" y="2194560"/>
            <a:ext cx="320040" cy="45720"/>
          </a:xfrm>
          <a:prstGeom prst="rect">
            <a:avLst/>
          </a:prstGeom>
          <a:solidFill>
            <a:srgbClr val="FF5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6573" y="2560320"/>
            <a:ext cx="2076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F5C2B"/>
                </a:solidFill>
                <a:latin typeface="Consolas"/>
              </a:rPr>
              <a:t>WHO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6573" y="2880360"/>
            <a:ext cx="207637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A1614"/>
                </a:solidFill>
                <a:latin typeface="맑은 고딕"/>
              </a:rPr>
              <a:t>이미지팀 검수자
번역 QA 인력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6573" y="4069079"/>
            <a:ext cx="207637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4A4744"/>
                </a:solidFill>
                <a:latin typeface="맑은 고딕"/>
              </a:rPr>
              <a:t>사내 검수팀 + 외부 협업사.
HTML 마크업 지식 불필요, 브라우저만 있으면 사용 가능.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4427" y="2194560"/>
            <a:ext cx="2625013" cy="3291840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4427" y="2194560"/>
            <a:ext cx="320040" cy="45720"/>
          </a:xfrm>
          <a:prstGeom prst="rect">
            <a:avLst/>
          </a:prstGeom>
          <a:solidFill>
            <a:srgbClr val="FF5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8747" y="2560320"/>
            <a:ext cx="2076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F5C2B"/>
                </a:solidFill>
                <a:latin typeface="Consolas"/>
              </a:rPr>
              <a:t>HOW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8747" y="2880360"/>
            <a:ext cx="207637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A1614"/>
                </a:solidFill>
                <a:latin typeface="맑은 고딕"/>
              </a:rPr>
              <a:t>Chrome에서
바로 실행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8747" y="4069079"/>
            <a:ext cx="207637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4A4744"/>
                </a:solidFill>
                <a:latin typeface="맑은 고딕"/>
              </a:rPr>
              <a:t>설치·계정·백엔드 없이 즉시 사용.
파일을 드래그하면 자동 분류, 자동 검출 즉시 시작.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26601" y="2194560"/>
            <a:ext cx="2625013" cy="3291840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26601" y="2194560"/>
            <a:ext cx="320040" cy="45720"/>
          </a:xfrm>
          <a:prstGeom prst="rect">
            <a:avLst/>
          </a:prstGeom>
          <a:solidFill>
            <a:srgbClr val="FF5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0921" y="2560320"/>
            <a:ext cx="2076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F5C2B"/>
                </a:solidFill>
                <a:latin typeface="Consolas"/>
              </a:rPr>
              <a:t>WHY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0921" y="2880360"/>
            <a:ext cx="207637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A1614"/>
                </a:solidFill>
                <a:latin typeface="맑은 고딕"/>
              </a:rPr>
              <a:t>2시간 → 15분
시간 단축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0921" y="4069079"/>
            <a:ext cx="207637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4A4744"/>
                </a:solidFill>
                <a:latin typeface="맑은 고딕"/>
              </a:rPr>
              <a:t>TM 누락·오검수 감소.
휴먼에러 최소화. 검수 정확도 향상.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4807A"/>
                </a:solidFill>
                <a:latin typeface="Consolas"/>
              </a:rPr>
              <a:t>02 / 13 — OVERVIEW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2895" y="6400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84807A"/>
                </a:solidFill>
                <a:latin typeface="Consolas"/>
              </a:rPr>
              <a:t>HTML Checker · v1.0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F5C2B"/>
                </a:solidFill>
                <a:latin typeface="Consolas"/>
              </a:rPr>
              <a:t>§02 · REQUIREMENTS ·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1A1614"/>
                </a:solidFill>
                <a:latin typeface="맑은 고딕"/>
              </a:rPr>
              <a:t>시스템 요구사항 — 클라이언트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4A4744"/>
                </a:solidFill>
                <a:latin typeface="맑은 고딕"/>
              </a:rPr>
              <a:t>사용자 PC에서 필요한 최소·권장 사양.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1828800" cy="502920"/>
          </a:xfrm>
          <a:prstGeom prst="rect">
            <a:avLst/>
          </a:prstGeom>
          <a:solidFill>
            <a:srgbClr val="1A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Consolas"/>
              </a:rPr>
              <a:t>항목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2286000"/>
            <a:ext cx="4206240" cy="502920"/>
          </a:xfrm>
          <a:prstGeom prst="rect">
            <a:avLst/>
          </a:prstGeom>
          <a:solidFill>
            <a:srgbClr val="1A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228600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Consolas"/>
              </a:rPr>
              <a:t>최소 사양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2286000"/>
            <a:ext cx="4572000" cy="502920"/>
          </a:xfrm>
          <a:prstGeom prst="rect">
            <a:avLst/>
          </a:prstGeom>
          <a:solidFill>
            <a:srgbClr val="1A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28600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Consolas"/>
              </a:rPr>
              <a:t>권장 사양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88920"/>
            <a:ext cx="10607040" cy="502920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A1614"/>
                </a:solidFill>
                <a:latin typeface="맑은 고딕"/>
              </a:rPr>
              <a:t>브라우저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78892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A4744"/>
                </a:solidFill>
                <a:latin typeface="맑은 고딕"/>
              </a:rPr>
              <a:t>Chrome 90+ / Edge 90+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78892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A1614"/>
                </a:solidFill>
                <a:latin typeface="맑은 고딕"/>
              </a:rPr>
              <a:t>최신 Chromium (Chrome 120+)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29184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A1614"/>
                </a:solidFill>
                <a:latin typeface="맑은 고딕"/>
              </a:rPr>
              <a:t>메모리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29184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A4744"/>
                </a:solidFill>
                <a:latin typeface="맑은 고딕"/>
              </a:rPr>
              <a:t>2 GB 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29184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A1614"/>
                </a:solidFill>
                <a:latin typeface="맑은 고딕"/>
              </a:rPr>
              <a:t>4 GB+ (3개 iframe 동시 활성 시)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94760"/>
            <a:ext cx="10607040" cy="502920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9476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A1614"/>
                </a:solidFill>
                <a:latin typeface="맑은 고딕"/>
              </a:rPr>
              <a:t>해상도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79476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A4744"/>
                </a:solidFill>
                <a:latin typeface="맑은 고딕"/>
              </a:rPr>
              <a:t>1280 × 720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79476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A1614"/>
                </a:solidFill>
                <a:latin typeface="맑은 고딕"/>
              </a:rPr>
              <a:t>1920 × 1080+ (2분할 비교 최적)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29768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A1614"/>
                </a:solidFill>
                <a:latin typeface="맑은 고딕"/>
              </a:rPr>
              <a:t>키보드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429768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A4744"/>
                </a:solidFill>
                <a:latin typeface="맑은 고딕"/>
              </a:rPr>
              <a:t>표준 키보드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29768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A1614"/>
                </a:solidFill>
                <a:latin typeface="맑은 고딕"/>
              </a:rPr>
              <a:t>백틱(`) · F8 · Esc 정상 입력 가능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800600"/>
            <a:ext cx="10607040" cy="502920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80060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A1614"/>
                </a:solidFill>
                <a:latin typeface="맑은 고딕"/>
              </a:rPr>
              <a:t>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480060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A4744"/>
                </a:solidFill>
                <a:latin typeface="맑은 고딕"/>
              </a:rPr>
              <a:t>Windows · macOS · Linux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80060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A1614"/>
                </a:solidFill>
                <a:latin typeface="맑은 고딕"/>
              </a:rPr>
              <a:t>제약 없음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669280"/>
            <a:ext cx="10911535" cy="502920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669280"/>
            <a:ext cx="54864" cy="502920"/>
          </a:xfrm>
          <a:prstGeom prst="rect">
            <a:avLst/>
          </a:prstGeom>
          <a:solidFill>
            <a:srgbClr val="FF0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669280"/>
            <a:ext cx="1045433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614"/>
                </a:solidFill>
                <a:latin typeface="맑은 고딕"/>
              </a:rPr>
              <a:t>Safari/Firefox도 동작하지만 iframe 렌더링이 Chrome과 다를 수 있어 검수 신뢰성에 영향. → 운영 환경은 Chromium 권장.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4807A"/>
                </a:solidFill>
                <a:latin typeface="Consolas"/>
              </a:rPr>
              <a:t>03 / 13 — REQUIREMENTS · CLIENT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62895" y="6400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84807A"/>
                </a:solidFill>
                <a:latin typeface="Consolas"/>
              </a:rPr>
              <a:t>HTML Checker · v1.0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F5C2B"/>
                </a:solidFill>
                <a:latin typeface="Consolas"/>
              </a:rPr>
              <a:t>§03 · REQUIREMENTS · SERVER &amp;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1A1614"/>
                </a:solidFill>
                <a:latin typeface="맑은 고딕"/>
              </a:rPr>
              <a:t>서버 · 파일 요구사항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4A4744"/>
                </a:solidFill>
                <a:latin typeface="맑은 고딕"/>
              </a:rPr>
              <a:t>사내 호스팅 환경과 검수 대상 파일이 갖춰야 할 조건.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5440680" cy="3657600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54864" cy="3657600"/>
          </a:xfrm>
          <a:prstGeom prst="rect">
            <a:avLst/>
          </a:prstGeom>
          <a:solidFill>
            <a:srgbClr val="FF5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F5C2B"/>
                </a:solidFill>
                <a:latin typeface="Consolas"/>
              </a:rPr>
              <a:t>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1A1614"/>
                </a:solidFill>
                <a:latin typeface="맑은 고딕"/>
              </a:rPr>
              <a:t>정적 호스팅 1대로 충분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5C2B"/>
                </a:solidFill>
                <a:latin typeface="맑은 고딕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6616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A1614"/>
                </a:solidFill>
                <a:latin typeface="맑은 고딕"/>
              </a:rPr>
              <a:t>정적 파일 호스팅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56616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4744"/>
                </a:solidFill>
                <a:latin typeface="맑은 고딕"/>
              </a:rPr>
              <a:t>GitHub Pages / S3 / Nginx / CDN — 어떤 환경이든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5C2B"/>
                </a:solidFill>
                <a:latin typeface="맑은 고딕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02336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A1614"/>
                </a:solidFill>
                <a:latin typeface="맑은 고딕"/>
              </a:rPr>
              <a:t>백엔드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02336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4744"/>
                </a:solidFill>
                <a:latin typeface="맑은 고딕"/>
              </a:rPr>
              <a:t>필요 없음. 데이터베이스, API 서버 모두 0개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80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5C2B"/>
                </a:solidFill>
                <a:latin typeface="맑은 고딕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48056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A1614"/>
                </a:solidFill>
                <a:latin typeface="맑은 고딕"/>
              </a:rPr>
              <a:t>HTTPS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48056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4744"/>
                </a:solidFill>
                <a:latin typeface="맑은 고딕"/>
              </a:rPr>
              <a:t>권장 (file:// 일부 보안 정책 제약)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9377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5C2B"/>
                </a:solidFill>
                <a:latin typeface="맑은 고딕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93776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A1614"/>
                </a:solidFill>
                <a:latin typeface="맑은 고딕"/>
              </a:rPr>
              <a:t>트래픽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93776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4744"/>
                </a:solidFill>
                <a:latin typeface="맑은 고딕"/>
              </a:rPr>
              <a:t>≈ 0 (index.html 130KB · gzipped 30KB)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949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5C2B"/>
                </a:solidFill>
                <a:latin typeface="맑은 고딕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39496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A1614"/>
                </a:solidFill>
                <a:latin typeface="맑은 고딕"/>
              </a:rPr>
              <a:t>인증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539496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4744"/>
                </a:solidFill>
                <a:latin typeface="맑은 고딕"/>
              </a:rPr>
              <a:t>옵션 — Basic Auth, Cognito 등으로 게이트 가능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286000"/>
            <a:ext cx="5440680" cy="3657600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2286000"/>
            <a:ext cx="54864" cy="3657600"/>
          </a:xfrm>
          <a:prstGeom prst="rect">
            <a:avLst/>
          </a:prstGeom>
          <a:solidFill>
            <a:srgbClr val="0BA5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256032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BA591"/>
                </a:solidFill>
                <a:latin typeface="Consolas"/>
              </a:rPr>
              <a:t>INPUT FILE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83464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1A1614"/>
                </a:solidFill>
                <a:latin typeface="맑은 고딕"/>
              </a:rPr>
              <a:t>검수 대상 HTML 파일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5661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BA591"/>
                </a:solidFill>
                <a:latin typeface="맑은 고딕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56616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A1614"/>
                </a:solidFill>
                <a:latin typeface="맑은 고딕"/>
              </a:rPr>
              <a:t>인코딩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356616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4744"/>
                </a:solidFill>
                <a:latin typeface="맑은 고딕"/>
              </a:rPr>
              <a:t>UTF-8 권장 (한국어/일본어/한자 표시 안정성)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0233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BA591"/>
                </a:solidFill>
                <a:latin typeface="맑은 고딕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02336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A1614"/>
                </a:solidFill>
                <a:latin typeface="맑은 고딕"/>
              </a:rPr>
              <a:t>마크업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402336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4744"/>
                </a:solidFill>
                <a:latin typeface="맑은 고딕"/>
              </a:rPr>
              <a:t>.text-info 클래스 기반 블록 (Flitto 템플릿)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44805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BA591"/>
                </a:solidFill>
                <a:latin typeface="맑은 고딕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8056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A1614"/>
                </a:solidFill>
                <a:latin typeface="맑은 고딕"/>
              </a:rPr>
              <a:t>크기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448056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4744"/>
                </a:solidFill>
                <a:latin typeface="맑은 고딕"/>
              </a:rPr>
              <a:t>권장 &lt; 5MB · 200KB 이하 가장 최적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9377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BA591"/>
                </a:solidFill>
                <a:latin typeface="맑은 고딕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93776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A1614"/>
                </a:solidFill>
                <a:latin typeface="맑은 고딕"/>
              </a:rPr>
              <a:t>이미지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493776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4744"/>
                </a:solidFill>
                <a:latin typeface="맑은 고딕"/>
              </a:rPr>
              <a:t>외부 CDN URL 가능 · 동기화 정확도 영향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53949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BA591"/>
                </a:solidFill>
                <a:latin typeface="맑은 고딕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39496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A1614"/>
                </a:solidFill>
                <a:latin typeface="맑은 고딕"/>
              </a:rPr>
              <a:t>파일명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539496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4744"/>
                </a:solidFill>
                <a:latin typeface="맑은 고딕"/>
              </a:rPr>
              <a:t>EN/JA/KR 자동 분류 패턴 준수 (다음 슬라이드)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4807A"/>
                </a:solidFill>
                <a:latin typeface="Consolas"/>
              </a:rPr>
              <a:t>04 / 13 — SERVER · FILE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62895" y="6400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84807A"/>
                </a:solidFill>
                <a:latin typeface="Consolas"/>
              </a:rPr>
              <a:t>HTML Checker · v1.0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F5C2B"/>
                </a:solidFill>
                <a:latin typeface="Consolas"/>
              </a:rPr>
              <a:t>§04 · NAMING CONVENTION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1A1614"/>
                </a:solidFill>
                <a:latin typeface="맑은 고딕"/>
              </a:rPr>
              <a:t>파일명 규약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4A4744"/>
                </a:solidFill>
                <a:latin typeface="맑은 고딕"/>
              </a:rPr>
              <a:t>드래그앤드롭 시 파일명 패턴으로 EN/JA/KR 자동 분류.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10911535" cy="777240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54864" cy="777240"/>
          </a:xfrm>
          <a:prstGeom prst="rect">
            <a:avLst/>
          </a:prstGeom>
          <a:solidFill>
            <a:srgbClr val="FF5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731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 i="0">
                <a:solidFill>
                  <a:srgbClr val="1A1614"/>
                </a:solidFill>
                <a:latin typeface="맑은 고딕"/>
              </a:rPr>
              <a:t>🇺🇸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3957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A1614"/>
                </a:solidFill>
                <a:latin typeface="맑은 고딕"/>
              </a:rPr>
              <a:t>EN (영문 번역본)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6700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5C2B"/>
                </a:solidFill>
                <a:latin typeface="Consolas"/>
              </a:rPr>
              <a:t>_en_*.html  또는  _en.html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450592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84807A"/>
                </a:solidFill>
                <a:latin typeface="Consolas"/>
              </a:rPr>
              <a:t>예: notice_en_544358.html · GA250228920_en.html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54680"/>
            <a:ext cx="10911535" cy="777240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54680"/>
            <a:ext cx="54864" cy="777240"/>
          </a:xfrm>
          <a:prstGeom prst="rect">
            <a:avLst/>
          </a:prstGeom>
          <a:solidFill>
            <a:srgbClr val="FF5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54680"/>
            <a:ext cx="731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 i="0">
                <a:solidFill>
                  <a:srgbClr val="1A1614"/>
                </a:solidFill>
                <a:latin typeface="맑은 고딕"/>
              </a:rPr>
              <a:t>🇯🇵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2644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A1614"/>
                </a:solidFill>
                <a:latin typeface="맑은 고딕"/>
              </a:rPr>
              <a:t>JA (일문 번역본)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5387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5C2B"/>
                </a:solidFill>
                <a:latin typeface="Consolas"/>
              </a:rPr>
              <a:t>_ja_*.html  또는  _ja.html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319272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84807A"/>
                </a:solidFill>
                <a:latin typeface="Consolas"/>
              </a:rPr>
              <a:t>예: notice_ja_544359.html · GA250228920_ja.html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023360"/>
            <a:ext cx="10911535" cy="777240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023360"/>
            <a:ext cx="54864" cy="777240"/>
          </a:xfrm>
          <a:prstGeom prst="rect">
            <a:avLst/>
          </a:prstGeom>
          <a:solidFill>
            <a:srgbClr val="FF5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023360"/>
            <a:ext cx="7315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 i="0">
                <a:solidFill>
                  <a:srgbClr val="1A1614"/>
                </a:solidFill>
                <a:latin typeface="맑은 고딕"/>
              </a:rPr>
              <a:t>🇰🇷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330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A1614"/>
                </a:solidFill>
                <a:latin typeface="맑은 고딕"/>
              </a:rPr>
              <a:t>KR (한국어 원본)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40740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5C2B"/>
                </a:solidFill>
                <a:latin typeface="Consolas"/>
              </a:rPr>
              <a:t>_origin_*.html  또는  _kr_*.html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187952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84807A"/>
                </a:solidFill>
                <a:latin typeface="Consolas"/>
              </a:rPr>
              <a:t>예: notice_origin_984070.html · GA250228920_origin.html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29200"/>
            <a:ext cx="10911535" cy="868680"/>
          </a:xfrm>
          <a:prstGeom prst="rect">
            <a:avLst/>
          </a:prstGeom>
          <a:solidFill>
            <a:srgbClr val="1A1614"/>
          </a:solidFill>
          <a:ln w="6350">
            <a:solidFill>
              <a:srgbClr val="1A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166360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F5C2B"/>
                </a:solidFill>
                <a:latin typeface="Consolas"/>
              </a:rPr>
              <a:t>권장 작명 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440680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{프로젝트}_{콘텐츠ID}_{언어}_{버전}.html   →   파일명에서 메타 추출, 일괄 처리에 유리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4807A"/>
                </a:solidFill>
                <a:latin typeface="Consolas"/>
              </a:rPr>
              <a:t>05 / 13 — NAMING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2895" y="6400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84807A"/>
                </a:solidFill>
                <a:latin typeface="Consolas"/>
              </a:rPr>
              <a:t>HTML Checker · v1.0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F5C2B"/>
                </a:solidFill>
                <a:latin typeface="Consolas"/>
              </a:rPr>
              <a:t>§05 · FEATURES ·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1A1614"/>
                </a:solidFill>
                <a:latin typeface="맑은 고딕"/>
              </a:rPr>
              <a:t>전체 기능 — 6개 카테고리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4A4744"/>
                </a:solidFill>
                <a:latin typeface="맑은 고딕"/>
              </a:rPr>
              <a:t>다음 슬라이드부터 각 카테고리를 상세하게 설명합니다.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3515258" cy="1828800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0" i="1">
                <a:solidFill>
                  <a:srgbClr val="FF5C2B"/>
                </a:solidFill>
                <a:latin typeface="Cambria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2651760"/>
            <a:ext cx="164592" cy="164592"/>
          </a:xfrm>
          <a:prstGeom prst="rect">
            <a:avLst/>
          </a:prstGeom>
          <a:solidFill>
            <a:srgbClr val="FF5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29666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A1614"/>
                </a:solidFill>
                <a:latin typeface="맑은 고딕"/>
              </a:rPr>
              <a:t>비교 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29666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A4744"/>
                </a:solidFill>
                <a:latin typeface="맑은 고딕"/>
              </a:rPr>
              <a:t>2분할 동시 비교 · 너비 조절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8218" y="2240280"/>
            <a:ext cx="3515258" cy="1828800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2538" y="246888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0" i="1">
                <a:solidFill>
                  <a:srgbClr val="3B82F6"/>
                </a:solidFill>
                <a:latin typeface="Cambria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1258" y="2651760"/>
            <a:ext cx="164592" cy="16459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2538" y="3246120"/>
            <a:ext cx="29666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A1614"/>
                </a:solidFill>
                <a:latin typeface="맑은 고딕"/>
              </a:rPr>
              <a:t>TM 검색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3611880"/>
            <a:ext cx="29666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A4744"/>
                </a:solidFill>
                <a:latin typeface="맑은 고딕"/>
              </a:rPr>
              <a:t>최대 10개 동시 · 색상별 표시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2240280"/>
            <a:ext cx="3515258" cy="1828800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0676" y="246888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0" i="1">
                <a:solidFill>
                  <a:srgbClr val="FF0033"/>
                </a:solidFill>
                <a:latin typeface="Cambria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99396" y="2651760"/>
            <a:ext cx="164592" cy="164592"/>
          </a:xfrm>
          <a:prstGeom prst="rect">
            <a:avLst/>
          </a:prstGeom>
          <a:solidFill>
            <a:srgbClr val="FF0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0676" y="3246120"/>
            <a:ext cx="29666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A1614"/>
                </a:solidFill>
                <a:latin typeface="맑은 고딕"/>
              </a:rPr>
              <a:t>한국어 탐지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0676" y="3611880"/>
            <a:ext cx="29666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A4744"/>
                </a:solidFill>
                <a:latin typeface="맑은 고딕"/>
              </a:rPr>
              <a:t>자동 검출 · 펄스 · ⚠ 표시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251960"/>
            <a:ext cx="3515258" cy="1828800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8056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0" i="1">
                <a:solidFill>
                  <a:srgbClr val="0BA591"/>
                </a:solidFill>
                <a:latin typeface="Cambria"/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03120" y="4663440"/>
            <a:ext cx="164592" cy="164592"/>
          </a:xfrm>
          <a:prstGeom prst="rect">
            <a:avLst/>
          </a:prstGeom>
          <a:solidFill>
            <a:srgbClr val="0BA5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57800"/>
            <a:ext cx="29666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A1614"/>
                </a:solidFill>
                <a:latin typeface="맑은 고딕"/>
              </a:rPr>
              <a:t>KO 원본 비교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623560"/>
            <a:ext cx="29666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A4744"/>
                </a:solidFill>
                <a:latin typeface="맑은 고딕"/>
              </a:rPr>
              <a:t>백틱 토글 · 마우스 추적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38218" y="4251960"/>
            <a:ext cx="3515258" cy="1828800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2538" y="448056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0" i="1">
                <a:solidFill>
                  <a:srgbClr val="A855F7"/>
                </a:solidFill>
                <a:latin typeface="Cambria"/>
              </a:rPr>
              <a:t>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01258" y="4663440"/>
            <a:ext cx="164592" cy="164592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2538" y="5257800"/>
            <a:ext cx="29666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A1614"/>
                </a:solidFill>
                <a:latin typeface="맑은 고딕"/>
              </a:rPr>
              <a:t>미니맵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2538" y="5623560"/>
            <a:ext cx="29666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A4744"/>
                </a:solidFill>
                <a:latin typeface="맑은 고딕"/>
              </a:rPr>
              <a:t>마커 · 매칭 차이 · 필터링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36356" y="4251960"/>
            <a:ext cx="3515258" cy="1828800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10676" y="448056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200" b="0" i="1">
                <a:solidFill>
                  <a:srgbClr val="F97316"/>
                </a:solidFill>
                <a:latin typeface="Cambria"/>
              </a:rPr>
              <a:t>06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99396" y="4663440"/>
            <a:ext cx="164592" cy="16459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10676" y="5257800"/>
            <a:ext cx="29666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A1614"/>
                </a:solidFill>
                <a:latin typeface="맑은 고딕"/>
              </a:rPr>
              <a:t>부가 기능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0676" y="5623560"/>
            <a:ext cx="29666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A4744"/>
                </a:solidFill>
                <a:latin typeface="맑은 고딕"/>
              </a:rPr>
              <a:t>히스토리 · CSV · 단축키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4807A"/>
                </a:solidFill>
                <a:latin typeface="Consolas"/>
              </a:rPr>
              <a:t>06 / 13 — FEATURES OVERVIEW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62895" y="6400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84807A"/>
                </a:solidFill>
                <a:latin typeface="Consolas"/>
              </a:rPr>
              <a:t>HTML Checker · v1.0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F5C2B"/>
                </a:solidFill>
                <a:latin typeface="Consolas"/>
              </a:rPr>
              <a:t>§06 · FEATURE 01 ·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1A1614"/>
                </a:solidFill>
                <a:latin typeface="맑은 고딕"/>
              </a:rPr>
              <a:t>비교 뷰 + TM 다중 검색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4A4744"/>
                </a:solidFill>
                <a:latin typeface="맑은 고딕"/>
              </a:rPr>
              <a:t>검수의 두 가지 축 — 시각 비교와 일관성 검증.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5318607" cy="3657600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47699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F5C2B"/>
                </a:solidFill>
                <a:latin typeface="Consolas"/>
              </a:rPr>
              <a:t>FEATURE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476996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1A1614"/>
                </a:solidFill>
                <a:latin typeface="맑은 고딕"/>
              </a:rPr>
              <a:t>2분할 비교 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476996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4A4744"/>
                </a:solidFill>
                <a:latin typeface="맑은 고딕"/>
              </a:rPr>
              <a:t>EN과 JA 번역본을 좌우로 동시 렌더링. Chrome과 동일한 결과 보장 (Blob URL + iframe).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2519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5C2B"/>
                </a:solidFill>
                <a:latin typeface="맑은 고딕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51960"/>
            <a:ext cx="44956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A1614"/>
                </a:solidFill>
                <a:latin typeface="맑은 고딕"/>
              </a:rPr>
              <a:t>좌우 폭 비율 조절 (1:1 고정 또는 자유)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5720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5C2B"/>
                </a:solidFill>
                <a:latin typeface="맑은 고딕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572000"/>
            <a:ext cx="44956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A1614"/>
                </a:solidFill>
                <a:latin typeface="맑은 고딕"/>
              </a:rPr>
              <a:t>다크/라이트 테마 · 원클릭 전환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89204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5C2B"/>
                </a:solidFill>
                <a:latin typeface="맑은 고딕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892040"/>
            <a:ext cx="44956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A1614"/>
                </a:solidFill>
                <a:latin typeface="맑은 고딕"/>
              </a:rPr>
              <a:t>iframe 격리로 원본 HTML CSS 충돌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2120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5C2B"/>
                </a:solidFill>
                <a:latin typeface="맑은 고딕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212080"/>
            <a:ext cx="44956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A1614"/>
                </a:solidFill>
                <a:latin typeface="맑은 고딕"/>
              </a:rPr>
              <a:t>이미지 로드 후에도 위치 동기 정확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2286000"/>
            <a:ext cx="5318607" cy="3657600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98767" y="2560320"/>
            <a:ext cx="47699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3B82F6"/>
                </a:solidFill>
                <a:latin typeface="Consolas"/>
              </a:rPr>
              <a:t>FEATURE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8767" y="2834640"/>
            <a:ext cx="476996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1A1614"/>
                </a:solidFill>
                <a:latin typeface="맑은 고딕"/>
              </a:rPr>
              <a:t>TM 다중 검색 (최대 10색)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8767" y="3429000"/>
            <a:ext cx="476996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4A4744"/>
                </a:solidFill>
                <a:latin typeface="맑은 고딕"/>
              </a:rPr>
              <a:t>브랜드 · 제품 · 옵션 · 라인을 한 번에 색상별로 검색. 검수 프로세스 최적화.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4487" y="42519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3B82F6"/>
                </a:solidFill>
                <a:latin typeface="맑은 고딕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7367" y="4251960"/>
            <a:ext cx="44956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A1614"/>
                </a:solidFill>
                <a:latin typeface="맑은 고딕"/>
              </a:rPr>
              <a:t>정규화 옵션: 줄바꿈 / 전각↔반각 / 공백 / 대소문자 / ひら↔カタ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4487" y="45720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3B82F6"/>
                </a:solidFill>
                <a:latin typeface="맑은 고딕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7367" y="4572000"/>
            <a:ext cx="44956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A1614"/>
                </a:solidFill>
                <a:latin typeface="맑은 고딕"/>
              </a:rPr>
              <a:t>Pill 클릭 → 해당 색만 강조, 나머지 dim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4487" y="489204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3B82F6"/>
                </a:solidFill>
                <a:latin typeface="맑은 고딕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7367" y="4892040"/>
            <a:ext cx="44956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A1614"/>
                </a:solidFill>
                <a:latin typeface="맑은 고딕"/>
              </a:rPr>
              <a:t>검색 히스토리 localStorage 자동 저장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4487" y="52120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3B82F6"/>
                </a:solidFill>
                <a:latin typeface="맑은 고딕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27367" y="5212080"/>
            <a:ext cx="44956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A1614"/>
                </a:solidFill>
                <a:latin typeface="맑은 고딕"/>
              </a:rPr>
              <a:t>결과 카운트 · 미니맵 마커 즉시 표시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98767" y="5486400"/>
            <a:ext cx="440420" cy="201168"/>
          </a:xfrm>
          <a:prstGeom prst="rect">
            <a:avLst/>
          </a:prstGeom>
          <a:solidFill>
            <a:srgbClr val="FF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57476" y="5486400"/>
            <a:ext cx="440420" cy="20116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16185" y="5486400"/>
            <a:ext cx="440420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74893" y="5486400"/>
            <a:ext cx="440420" cy="201168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33602" y="5486400"/>
            <a:ext cx="440420" cy="20116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92311" y="5486400"/>
            <a:ext cx="440420" cy="20116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351020" y="5486400"/>
            <a:ext cx="440420" cy="20116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809728" y="5486400"/>
            <a:ext cx="440420" cy="201168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68437" y="5486400"/>
            <a:ext cx="440420" cy="20116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727146" y="5486400"/>
            <a:ext cx="440420" cy="20116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4807A"/>
                </a:solidFill>
                <a:latin typeface="Consolas"/>
              </a:rPr>
              <a:t>07 / 13 — FEATURE 01 · 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62895" y="6400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84807A"/>
                </a:solidFill>
                <a:latin typeface="Consolas"/>
              </a:rPr>
              <a:t>HTML Checker · v1.0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F5C2B"/>
                </a:solidFill>
                <a:latin typeface="Consolas"/>
              </a:rPr>
              <a:t>§07 · FEATURE 03 ·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1A1614"/>
                </a:solidFill>
                <a:latin typeface="맑은 고딕"/>
              </a:rPr>
              <a:t>한국어 자동 탐지 + KO 원본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4A4744"/>
                </a:solidFill>
                <a:latin typeface="맑은 고딕"/>
              </a:rPr>
              <a:t>휴먼에러 최소화와 원본 대조의 핵심 기능.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5318607" cy="3657600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47699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F0033"/>
                </a:solidFill>
                <a:latin typeface="Consolas"/>
              </a:rPr>
              <a:t>FEATURE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476996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1A1614"/>
                </a:solidFill>
                <a:latin typeface="맑은 고딕"/>
              </a:rPr>
              <a:t>한국어 자동 탐지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476996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4A4744"/>
                </a:solidFill>
                <a:latin typeface="맑은 고딕"/>
              </a:rPr>
              <a:t>파일 로드 즉시 미번역 한국어 텍스트를 정규식으로 스캔. 드롭다운 자동 노출.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2519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0033"/>
                </a:solidFill>
                <a:latin typeface="맑은 고딕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51960"/>
            <a:ext cx="44956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614"/>
                </a:solidFill>
                <a:latin typeface="맑은 고딕"/>
              </a:rPr>
              <a:t>정규식: /[가-힣]+/g · iframe 내부에서 실행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54456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0033"/>
                </a:solidFill>
                <a:latin typeface="맑은 고딕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544568"/>
            <a:ext cx="44956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614"/>
                </a:solidFill>
                <a:latin typeface="맑은 고딕"/>
              </a:rPr>
              <a:t>한국어 발견 시 드롭다운 자동 open (고정 모드)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83717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0033"/>
                </a:solidFill>
                <a:latin typeface="맑은 고딕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837176"/>
            <a:ext cx="44956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614"/>
                </a:solidFill>
                <a:latin typeface="맑은 고딕"/>
              </a:rPr>
              <a:t>드롭다운은 헤더 pill 클릭으로만 닫힘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129784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0033"/>
                </a:solidFill>
                <a:latin typeface="맑은 고딕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129784"/>
            <a:ext cx="44956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614"/>
                </a:solidFill>
                <a:latin typeface="맑은 고딕"/>
              </a:rPr>
              <a:t>미니맵 ⚠ 마커 · 빨간 펄스 + 글로우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42239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0033"/>
                </a:solidFill>
                <a:latin typeface="맑은 고딕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422392"/>
            <a:ext cx="44956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614"/>
                </a:solidFill>
                <a:latin typeface="맑은 고딕"/>
              </a:rPr>
              <a:t>CSV 내보내기로 보고서/이슈트래커 첨부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2286000"/>
            <a:ext cx="5318607" cy="3657600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98767" y="2560320"/>
            <a:ext cx="47699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BA591"/>
                </a:solidFill>
                <a:latin typeface="Consolas"/>
              </a:rPr>
              <a:t>FEATURE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8767" y="2834640"/>
            <a:ext cx="476996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1A1614"/>
                </a:solidFill>
                <a:latin typeface="맑은 고딕"/>
              </a:rPr>
              <a:t>KO 원본 토글 비교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8767" y="3429000"/>
            <a:ext cx="476996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4A4744"/>
                </a:solidFill>
                <a:latin typeface="맑은 고딕"/>
              </a:rPr>
              <a:t>백틱(`) 한 번이면 반대편 패널이 KO 원본으로 전환. 삭제 이미지 · 톤앤무드 검수의 핵심.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4487" y="42519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BA591"/>
                </a:solidFill>
                <a:latin typeface="맑은 고딕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7367" y="4251960"/>
            <a:ext cx="44956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614"/>
                </a:solidFill>
                <a:latin typeface="맑은 고딕"/>
              </a:rPr>
              <a:t>백틱(`) 키 한 번 → KR 오버레이 ON/OFF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4487" y="454456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BA591"/>
                </a:solidFill>
                <a:latin typeface="맑은 고딕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7367" y="4544568"/>
            <a:ext cx="44956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614"/>
                </a:solidFill>
                <a:latin typeface="맑은 고딕"/>
              </a:rPr>
              <a:t>마우스 이동에 따라 KR이 반대편 패널로 자동 전환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4487" y="483717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BA591"/>
                </a:solidFill>
                <a:latin typeface="맑은 고딕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27367" y="4837176"/>
            <a:ext cx="44956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614"/>
                </a:solidFill>
                <a:latin typeface="맑은 고딕"/>
              </a:rPr>
              <a:t>사전 렌더된 hidden iframe (재로드 없음)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4487" y="5129784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BA591"/>
                </a:solidFill>
                <a:latin typeface="맑은 고딕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27367" y="5129784"/>
            <a:ext cx="44956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614"/>
                </a:solidFill>
                <a:latin typeface="맑은 고딕"/>
              </a:rPr>
              <a:t>단방향 동기 스크롤 (활성 측 → KR)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44487" y="542239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BA591"/>
                </a:solidFill>
                <a:latin typeface="맑은 고딕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27367" y="5422392"/>
            <a:ext cx="44956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614"/>
                </a:solidFill>
                <a:latin typeface="맑은 고딕"/>
              </a:rPr>
              <a:t>삭제 이미지 · 이벤트 · 일반인 이미지 누락 검출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4807A"/>
                </a:solidFill>
                <a:latin typeface="Consolas"/>
              </a:rPr>
              <a:t>08 / 13 — FEATURE 03 · 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62895" y="6400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84807A"/>
                </a:solidFill>
                <a:latin typeface="Consolas"/>
              </a:rPr>
              <a:t>HTML Checker · v1.0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F5C2B"/>
                </a:solidFill>
                <a:latin typeface="Consolas"/>
              </a:rPr>
              <a:t>§08 · FEATURE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1A1614"/>
                </a:solidFill>
                <a:latin typeface="맑은 고딕"/>
              </a:rPr>
              <a:t>미니맵 시각화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4A4744"/>
                </a:solidFill>
                <a:latin typeface="맑은 고딕"/>
              </a:rPr>
              <a:t>스크롤바 옆 14px 폭의 패널에 모든 검출 정보를 시각화.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2926080" cy="3657600"/>
          </a:xfrm>
          <a:prstGeom prst="rect">
            <a:avLst/>
          </a:prstGeom>
          <a:solidFill>
            <a:srgbClr val="1A1614"/>
          </a:solidFill>
          <a:ln w="6350">
            <a:solidFill>
              <a:srgbClr val="1A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F5C2B"/>
                </a:solidFill>
                <a:latin typeface="Consolas"/>
              </a:rPr>
              <a:t>MINIMAP · 미니맵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3017520"/>
            <a:ext cx="228600" cy="2743200"/>
          </a:xfrm>
          <a:prstGeom prst="rect">
            <a:avLst/>
          </a:prstGeom>
          <a:solidFill>
            <a:srgbClr val="33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34640" y="3154680"/>
            <a:ext cx="228600" cy="45720"/>
          </a:xfrm>
          <a:prstGeom prst="rect">
            <a:avLst/>
          </a:prstGeom>
          <a:solidFill>
            <a:srgbClr val="FF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40" y="3346704"/>
            <a:ext cx="22860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34640" y="3511296"/>
            <a:ext cx="22860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40" y="3785616"/>
            <a:ext cx="228600" cy="64008"/>
          </a:xfrm>
          <a:prstGeom prst="rect">
            <a:avLst/>
          </a:prstGeom>
          <a:solidFill>
            <a:srgbClr val="FF0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3712464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F0033"/>
                </a:solidFill>
                <a:latin typeface="맑은 고딕"/>
              </a:rPr>
              <a:t>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3977639"/>
            <a:ext cx="228600" cy="4572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4169664"/>
            <a:ext cx="228600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34640" y="4443984"/>
            <a:ext cx="228600" cy="64008"/>
          </a:xfrm>
          <a:prstGeom prst="rect">
            <a:avLst/>
          </a:prstGeom>
          <a:solidFill>
            <a:srgbClr val="FF0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4370832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F0033"/>
                </a:solidFill>
                <a:latin typeface="맑은 고딕"/>
              </a:rPr>
              <a:t>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4663440"/>
            <a:ext cx="22860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34640" y="4882896"/>
            <a:ext cx="22860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06040" y="4809744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 i="0">
                <a:solidFill>
                  <a:srgbClr val="FF0033"/>
                </a:solidFill>
                <a:latin typeface="맑은 고딕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5074920"/>
            <a:ext cx="228600" cy="45720"/>
          </a:xfrm>
          <a:prstGeom prst="rect">
            <a:avLst/>
          </a:prstGeom>
          <a:solidFill>
            <a:srgbClr val="FF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34640" y="5349240"/>
            <a:ext cx="228600" cy="64008"/>
          </a:xfrm>
          <a:prstGeom prst="rect">
            <a:avLst/>
          </a:prstGeom>
          <a:solidFill>
            <a:srgbClr val="FF0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5276088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F0033"/>
                </a:solidFill>
                <a:latin typeface="맑은 고딕"/>
              </a:rPr>
              <a:t>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090672"/>
            <a:ext cx="164592" cy="164592"/>
          </a:xfrm>
          <a:prstGeom prst="rect">
            <a:avLst/>
          </a:prstGeom>
          <a:solidFill>
            <a:srgbClr val="FF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3017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검색 마커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27355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4807A"/>
                </a:solidFill>
                <a:latin typeface="Consolas"/>
              </a:rPr>
              <a:t>검색어별 색상 (10색)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3593592"/>
            <a:ext cx="164592" cy="164592"/>
          </a:xfrm>
          <a:prstGeom prst="rect">
            <a:avLst/>
          </a:prstGeom>
          <a:solidFill>
            <a:srgbClr val="FF0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35204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한국어 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77647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4807A"/>
                </a:solidFill>
                <a:latin typeface="Consolas"/>
              </a:rPr>
              <a:t>펄스 + 좌측 경고 기호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4096512"/>
            <a:ext cx="164592" cy="164592"/>
          </a:xfrm>
          <a:prstGeom prst="rect">
            <a:avLst/>
          </a:prstGeom>
          <a:solidFill>
            <a:srgbClr val="FF0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4023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Unmatched 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42793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4807A"/>
                </a:solidFill>
                <a:latin typeface="Consolas"/>
              </a:rPr>
              <a:t>EN/JA 한쪽만 매칭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0" y="2286000"/>
            <a:ext cx="7711135" cy="3657600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0" y="2560320"/>
            <a:ext cx="71624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A855F7"/>
                </a:solidFill>
                <a:latin typeface="Consolas"/>
              </a:rPr>
              <a:t>FEATURE 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2834640"/>
            <a:ext cx="71624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1A1614"/>
                </a:solidFill>
                <a:latin typeface="맑은 고딕"/>
              </a:rPr>
              <a:t>스마트 미니맵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51960" y="365760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855F7"/>
                </a:solidFill>
                <a:latin typeface="맑은 고딕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36576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A1614"/>
                </a:solidFill>
                <a:latin typeface="맑은 고딕"/>
              </a:rPr>
              <a:t>색상별 검색 마커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3657600"/>
            <a:ext cx="469361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4744"/>
                </a:solidFill>
                <a:latin typeface="맑은 고딕"/>
              </a:rPr>
              <a:t>10색 동시 표시. 위치 클릭으로 점프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4096512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855F7"/>
                </a:solidFill>
                <a:latin typeface="맑은 고딕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6280" y="409651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A1614"/>
                </a:solidFill>
                <a:latin typeface="맑은 고딕"/>
              </a:rPr>
              <a:t>한국어 ⚠ + 펄스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096512"/>
            <a:ext cx="469361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4744"/>
                </a:solidFill>
                <a:latin typeface="맑은 고딕"/>
              </a:rPr>
              <a:t>검색 마커와 공존. 검색 필터 시에도 항상 표시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51960" y="4535424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855F7"/>
                </a:solidFill>
                <a:latin typeface="맑은 고딕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6280" y="453542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A1614"/>
                </a:solidFill>
                <a:latin typeface="맑은 고딕"/>
              </a:rPr>
              <a:t>Unmatched ▶ 표시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4535424"/>
            <a:ext cx="469361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4744"/>
                </a:solidFill>
                <a:latin typeface="맑은 고딕"/>
              </a:rPr>
              <a:t>EN/JA 한쪽만 매칭된 줄을 좌측 화살표로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51960" y="4974336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855F7"/>
                </a:solidFill>
                <a:latin typeface="맑은 고딕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26280" y="4974336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A1614"/>
                </a:solidFill>
                <a:latin typeface="맑은 고딕"/>
              </a:rPr>
              <a:t>Pill 클릭 필터링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4974336"/>
            <a:ext cx="469361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4744"/>
                </a:solidFill>
                <a:latin typeface="맑은 고딕"/>
              </a:rPr>
              <a:t>선택한 색만 풀 opacity, 나머지 dim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51960" y="5413248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855F7"/>
                </a:solidFill>
                <a:latin typeface="맑은 고딕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26280" y="541324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A1614"/>
                </a:solidFill>
                <a:latin typeface="맑은 고딕"/>
              </a:rPr>
              <a:t>DOM 블록 인덱스 매칭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5413248"/>
            <a:ext cx="469361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4744"/>
                </a:solidFill>
                <a:latin typeface="맑은 고딕"/>
              </a:rPr>
              <a:t>.text-info 기준 매칭 — 위치 오차 없음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4807A"/>
                </a:solidFill>
                <a:latin typeface="Consolas"/>
              </a:rPr>
              <a:t>09 / 13 — FEATURE 05 · MINIMAP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62895" y="6400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84807A"/>
                </a:solidFill>
                <a:latin typeface="Consolas"/>
              </a:rPr>
              <a:t>HTML Checker · v1.0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F5C2B"/>
                </a:solidFill>
                <a:latin typeface="Consolas"/>
              </a:rPr>
              <a:t>§09 · FEATURE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1A1614"/>
                </a:solidFill>
                <a:latin typeface="맑은 고딕"/>
              </a:rPr>
              <a:t>부가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4A4744"/>
                </a:solidFill>
                <a:latin typeface="맑은 고딕"/>
              </a:rPr>
              <a:t>검수자의 작업 효율을 끌어올리는 7가지 보조 도구.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2590723" cy="1691640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20420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A1614"/>
                </a:solidFill>
                <a:latin typeface="맑은 고딕"/>
              </a:rPr>
              <a:t>스크롤 동기화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0420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4A4744"/>
                </a:solidFill>
                <a:latin typeface="맑은 고딕"/>
              </a:rPr>
              <a:t>상시 동기 · 1회 위치 맞춤 · KR 단방향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FF5C2B"/>
                </a:solidFill>
                <a:latin typeface="Consolas"/>
              </a:rPr>
              <a:t>F8 / Shift+Wheel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3683" y="2286000"/>
            <a:ext cx="2590723" cy="1691640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8003" y="2514600"/>
            <a:ext cx="20420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A1614"/>
                </a:solidFill>
                <a:latin typeface="맑은 고딕"/>
              </a:rPr>
              <a:t>검색 히스토리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8003" y="2926080"/>
            <a:ext cx="20420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4A4744"/>
                </a:solidFill>
                <a:latin typeface="맑은 고딕"/>
              </a:rPr>
              <a:t>localStorage 자동 저장 (최근 20개)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8003" y="3657600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FF5C2B"/>
                </a:solidFill>
                <a:latin typeface="Consolas"/>
              </a:rPr>
              <a:t>Ctrl+Shift+F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7287" y="2286000"/>
            <a:ext cx="2590723" cy="1691640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1607" y="2514600"/>
            <a:ext cx="20420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A1614"/>
                </a:solidFill>
                <a:latin typeface="맑은 고딕"/>
              </a:rPr>
              <a:t>텍스트 추출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1607" y="2926080"/>
            <a:ext cx="20420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4A4744"/>
                </a:solidFill>
                <a:latin typeface="맑은 고딕"/>
              </a:rPr>
              <a:t>.text-info 블록 EN/JA 일괄 추출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3657600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FF5C2B"/>
                </a:solidFill>
                <a:latin typeface="Consolas"/>
              </a:rPr>
              <a:t>헤더 드롭다운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0891" y="2286000"/>
            <a:ext cx="2590723" cy="1691640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211" y="2514600"/>
            <a:ext cx="20420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A1614"/>
                </a:solidFill>
                <a:latin typeface="맑은 고딕"/>
              </a:rPr>
              <a:t>CSV 내보내기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211" y="2926080"/>
            <a:ext cx="20420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4A4744"/>
                </a:solidFill>
                <a:latin typeface="맑은 고딕"/>
              </a:rPr>
              <a:t>한국어 검출 결과 다운로드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211" y="3657600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FF5C2B"/>
                </a:solidFill>
                <a:latin typeface="Consolas"/>
              </a:rPr>
              <a:t>헤더 ⚠ → 내보내기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160520"/>
            <a:ext cx="2590723" cy="1691640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389120"/>
            <a:ext cx="20420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A1614"/>
                </a:solidFill>
                <a:latin typeface="맑은 고딕"/>
              </a:rPr>
              <a:t>너비 조절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00600"/>
            <a:ext cx="20420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4A4744"/>
                </a:solidFill>
                <a:latin typeface="맑은 고딕"/>
              </a:rPr>
              <a:t>좌우 패널 비율 자유 / 1:1 고정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32120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FF5C2B"/>
                </a:solidFill>
                <a:latin typeface="Consolas"/>
              </a:rPr>
              <a:t>헤더 토글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13683" y="4160520"/>
            <a:ext cx="2590723" cy="1691640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88003" y="4389120"/>
            <a:ext cx="20420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A1614"/>
                </a:solidFill>
                <a:latin typeface="맑은 고딕"/>
              </a:rPr>
              <a:t>새로고침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88003" y="4800600"/>
            <a:ext cx="20420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4A4744"/>
                </a:solidFill>
                <a:latin typeface="맑은 고딕"/>
              </a:rPr>
              <a:t>양쪽 iframe 즉시 재로드 (CDN 캐시 갱신)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88003" y="5532120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FF5C2B"/>
                </a:solidFill>
                <a:latin typeface="Consolas"/>
              </a:rPr>
              <a:t>헤더 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87287" y="4160520"/>
            <a:ext cx="2590723" cy="1691640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1607" y="4389120"/>
            <a:ext cx="20420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A1614"/>
                </a:solidFill>
                <a:latin typeface="맑은 고딕"/>
              </a:rPr>
              <a:t>다크/라이트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1607" y="4800600"/>
            <a:ext cx="20420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4A4744"/>
                </a:solidFill>
                <a:latin typeface="맑은 고딕"/>
              </a:rPr>
              <a:t>원클릭 전환 · localStorage 보존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1607" y="5532120"/>
            <a:ext cx="20420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FF5C2B"/>
                </a:solidFill>
                <a:latin typeface="Consolas"/>
              </a:rPr>
              <a:t>헤더 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4807A"/>
                </a:solidFill>
                <a:latin typeface="Consolas"/>
              </a:rPr>
              <a:t>10 / 13 — FEATURE 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62895" y="6400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84807A"/>
                </a:solidFill>
                <a:latin typeface="Consolas"/>
              </a:rPr>
              <a:t>HTML Checker · v1.0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F5C2B"/>
                </a:solidFill>
                <a:latin typeface="Consolas"/>
              </a:rPr>
              <a:t>§10 · SHORTCUTS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1A1614"/>
                </a:solidFill>
                <a:latin typeface="맑은 고딕"/>
              </a:rPr>
              <a:t>단축키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4A4744"/>
                </a:solidFill>
                <a:latin typeface="맑은 고딕"/>
              </a:rPr>
              <a:t>검수 고수가 되고 싶다면 이것만 외우세요.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5318607" cy="493776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1828800" cy="274320"/>
          </a:xfrm>
          <a:prstGeom prst="rect">
            <a:avLst/>
          </a:prstGeom>
          <a:solidFill>
            <a:srgbClr val="1A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FF5C2B"/>
                </a:solidFill>
                <a:latin typeface="Consolas"/>
              </a:rPr>
              <a:t>`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286000"/>
            <a:ext cx="2941167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A1614"/>
                </a:solidFill>
                <a:latin typeface="맑은 고딕"/>
              </a:rPr>
              <a:t>KR 원본 비교 ON/OFF 토글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18607" cy="493776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926080"/>
            <a:ext cx="1828800" cy="274320"/>
          </a:xfrm>
          <a:prstGeom prst="rect">
            <a:avLst/>
          </a:prstGeom>
          <a:solidFill>
            <a:srgbClr val="1A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FF5C2B"/>
                </a:solidFill>
                <a:latin typeface="Consolas"/>
              </a:rPr>
              <a:t>Esc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834640"/>
            <a:ext cx="2941167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A1614"/>
                </a:solidFill>
                <a:latin typeface="맑은 고딕"/>
              </a:rPr>
              <a:t>KR 해제 → 검색어 비우기 → 사이드바 토글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83280"/>
            <a:ext cx="5318607" cy="493776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474720"/>
            <a:ext cx="1828800" cy="274320"/>
          </a:xfrm>
          <a:prstGeom prst="rect">
            <a:avLst/>
          </a:prstGeom>
          <a:solidFill>
            <a:srgbClr val="1A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FF5C2B"/>
                </a:solidFill>
                <a:latin typeface="Consolas"/>
              </a:rPr>
              <a:t>F8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383280"/>
            <a:ext cx="2941167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A1614"/>
                </a:solidFill>
                <a:latin typeface="맑은 고딕"/>
              </a:rPr>
              <a:t>상시 동기화 ON/OFF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2286000"/>
            <a:ext cx="5318607" cy="493776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15887" y="2377440"/>
            <a:ext cx="1828800" cy="274320"/>
          </a:xfrm>
          <a:prstGeom prst="rect">
            <a:avLst/>
          </a:prstGeom>
          <a:solidFill>
            <a:srgbClr val="1A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2377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FF5C2B"/>
                </a:solidFill>
                <a:latin typeface="Consolas"/>
              </a:rPr>
              <a:t>Shift + Wheel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7567" y="2286000"/>
            <a:ext cx="2941167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A1614"/>
                </a:solidFill>
                <a:latin typeface="맑은 고딕"/>
              </a:rPr>
              <a:t>양쪽 동기 스크롤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2834640"/>
            <a:ext cx="5318607" cy="493776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15887" y="2926080"/>
            <a:ext cx="1828800" cy="274320"/>
          </a:xfrm>
          <a:prstGeom prst="rect">
            <a:avLst/>
          </a:prstGeom>
          <a:solidFill>
            <a:srgbClr val="1A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5887" y="2926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FF5C2B"/>
                </a:solidFill>
                <a:latin typeface="Consolas"/>
              </a:rPr>
              <a:t>Ctrl + Shift + 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7567" y="2834640"/>
            <a:ext cx="2941167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A1614"/>
                </a:solidFill>
                <a:latin typeface="맑은 고딕"/>
              </a:rPr>
              <a:t>검색 패널 열기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3383280"/>
            <a:ext cx="5318607" cy="493776"/>
          </a:xfrm>
          <a:prstGeom prst="rect">
            <a:avLst/>
          </a:prstGeom>
          <a:solidFill>
            <a:srgbClr val="F6F3EC"/>
          </a:solidFill>
          <a:ln w="6350">
            <a:solidFill>
              <a:srgbClr val="E6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15887" y="3474720"/>
            <a:ext cx="1828800" cy="274320"/>
          </a:xfrm>
          <a:prstGeom prst="rect">
            <a:avLst/>
          </a:prstGeom>
          <a:solidFill>
            <a:srgbClr val="1A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5887" y="3474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FF5C2B"/>
                </a:solidFill>
                <a:latin typeface="Consolas"/>
              </a:rPr>
              <a:t>Ctrl + Shift + 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27567" y="3383280"/>
            <a:ext cx="2941167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A1614"/>
                </a:solidFill>
                <a:latin typeface="맑은 고딕"/>
              </a:rPr>
              <a:t>검색 결과 초기화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4807A"/>
                </a:solidFill>
                <a:latin typeface="Consolas"/>
              </a:rPr>
              <a:t>11 / 13 — SHORTCUTS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2895" y="6400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84807A"/>
                </a:solidFill>
                <a:latin typeface="Consolas"/>
              </a:rPr>
              <a:t>HTML Checker · v1.0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F5C2B"/>
                </a:solidFill>
                <a:latin typeface="Consolas"/>
              </a:rPr>
              <a:t>§11 ·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1A1614"/>
                </a:solidFill>
                <a:latin typeface="맑은 고딕"/>
              </a:rPr>
              <a:t>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4A4744"/>
                </a:solidFill>
                <a:latin typeface="맑은 고딕"/>
              </a:rPr>
              <a:t>단일 파일 + 의존성 0. 가장 단순한 도구가 가장 오래 살아남습니다.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3484778" cy="1371600"/>
          </a:xfrm>
          <a:prstGeom prst="rect">
            <a:avLst/>
          </a:prstGeom>
          <a:solidFill>
            <a:srgbClr val="1A1614"/>
          </a:solidFill>
          <a:ln w="6350">
            <a:solidFill>
              <a:srgbClr val="1A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9361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F5C2B"/>
                </a:solidFill>
                <a:latin typeface="Consolas"/>
              </a:rPr>
              <a:t>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93613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맑은 고딕"/>
              </a:rPr>
              <a:t>Vanilla HTML/CSS/JS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29361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4807A"/>
                </a:solidFill>
                <a:latin typeface="맑은 고딕"/>
              </a:rPr>
              <a:t>프레임워크 없음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3458" y="2194560"/>
            <a:ext cx="3484778" cy="1371600"/>
          </a:xfrm>
          <a:prstGeom prst="rect">
            <a:avLst/>
          </a:prstGeom>
          <a:solidFill>
            <a:srgbClr val="1A1614"/>
          </a:solidFill>
          <a:ln w="6350">
            <a:solidFill>
              <a:srgbClr val="1A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7778" y="2377440"/>
            <a:ext cx="29361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F5C2B"/>
                </a:solidFill>
                <a:latin typeface="Consolas"/>
              </a:rPr>
              <a:t>RENDER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651760"/>
            <a:ext cx="293613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맑은 고딕"/>
              </a:rPr>
              <a:t>Blob URL + iframe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7778" y="3108960"/>
            <a:ext cx="29361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4807A"/>
                </a:solidFill>
                <a:latin typeface="맑은 고딕"/>
              </a:rPr>
              <a:t>Chrome 동일 렌더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6836" y="2194560"/>
            <a:ext cx="3484778" cy="1371600"/>
          </a:xfrm>
          <a:prstGeom prst="rect">
            <a:avLst/>
          </a:prstGeom>
          <a:solidFill>
            <a:srgbClr val="1A1614"/>
          </a:solidFill>
          <a:ln w="6350">
            <a:solidFill>
              <a:srgbClr val="1A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1156" y="2377440"/>
            <a:ext cx="29361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F5C2B"/>
                </a:solidFill>
                <a:latin typeface="Consolas"/>
              </a:rPr>
              <a:t>COMM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1156" y="2651760"/>
            <a:ext cx="293613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맑은 고딕"/>
              </a:rPr>
              <a:t>postMessage Bridge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1156" y="3108960"/>
            <a:ext cx="29361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4807A"/>
                </a:solidFill>
                <a:latin typeface="맑은 고딕"/>
              </a:rPr>
              <a:t>ID 기반 비동기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49040"/>
            <a:ext cx="3484778" cy="1371600"/>
          </a:xfrm>
          <a:prstGeom prst="rect">
            <a:avLst/>
          </a:prstGeom>
          <a:solidFill>
            <a:srgbClr val="1A1614"/>
          </a:solidFill>
          <a:ln w="6350">
            <a:solidFill>
              <a:srgbClr val="1A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31920"/>
            <a:ext cx="29361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F5C2B"/>
                </a:solidFill>
                <a:latin typeface="Consolas"/>
              </a:rPr>
              <a:t>SYNC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06240"/>
            <a:ext cx="293613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맑은 고딕"/>
              </a:rPr>
              <a:t>requestAnimationFrame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63440"/>
            <a:ext cx="29361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4807A"/>
                </a:solidFill>
                <a:latin typeface="맑은 고딕"/>
              </a:rPr>
              <a:t>60fps 스크롤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53458" y="3749040"/>
            <a:ext cx="3484778" cy="1371600"/>
          </a:xfrm>
          <a:prstGeom prst="rect">
            <a:avLst/>
          </a:prstGeom>
          <a:solidFill>
            <a:srgbClr val="1A1614"/>
          </a:solidFill>
          <a:ln w="6350">
            <a:solidFill>
              <a:srgbClr val="1A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7778" y="3931920"/>
            <a:ext cx="29361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F5C2B"/>
                </a:solidFill>
                <a:latin typeface="Consolas"/>
              </a:rPr>
              <a:t>STORE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7778" y="4206240"/>
            <a:ext cx="293613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맑은 고딕"/>
              </a:rPr>
              <a:t>localStorage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7778" y="4663440"/>
            <a:ext cx="29361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4807A"/>
                </a:solidFill>
                <a:latin typeface="맑은 고딕"/>
              </a:rPr>
              <a:t>클라이언트만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66836" y="3749040"/>
            <a:ext cx="3484778" cy="1371600"/>
          </a:xfrm>
          <a:prstGeom prst="rect">
            <a:avLst/>
          </a:prstGeom>
          <a:solidFill>
            <a:srgbClr val="1A1614"/>
          </a:solidFill>
          <a:ln w="6350">
            <a:solidFill>
              <a:srgbClr val="1A16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1156" y="3931920"/>
            <a:ext cx="29361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F5C2B"/>
                </a:solidFill>
                <a:latin typeface="Consolas"/>
              </a:rPr>
              <a:t>HOST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1156" y="4206240"/>
            <a:ext cx="293613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맑은 고딕"/>
              </a:rPr>
              <a:t>Static (any)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1156" y="4663440"/>
            <a:ext cx="29361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4807A"/>
                </a:solidFill>
                <a:latin typeface="맑은 고딕"/>
              </a:rPr>
              <a:t>Pages · S3 · Nginx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623560"/>
            <a:ext cx="259072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 i="1">
                <a:solidFill>
                  <a:srgbClr val="FF5C2B"/>
                </a:solidFill>
                <a:latin typeface="Cambria"/>
              </a:rPr>
              <a:t>2,478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080760"/>
            <a:ext cx="259072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84807A"/>
                </a:solidFill>
                <a:latin typeface="Consolas"/>
              </a:rPr>
              <a:t>Lines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13683" y="5623560"/>
            <a:ext cx="259072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 i="1">
                <a:solidFill>
                  <a:srgbClr val="FF5C2B"/>
                </a:solidFill>
                <a:latin typeface="Cambria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13683" y="6080760"/>
            <a:ext cx="259072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84807A"/>
                </a:solidFill>
                <a:latin typeface="Consolas"/>
              </a:rPr>
              <a:t>Dependencies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7287" y="5623560"/>
            <a:ext cx="259072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 i="1">
                <a:solidFill>
                  <a:srgbClr val="FF5C2B"/>
                </a:solidFill>
                <a:latin typeface="Cambria"/>
              </a:rPr>
              <a:t>130KB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7287" y="6080760"/>
            <a:ext cx="259072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84807A"/>
                </a:solidFill>
                <a:latin typeface="Consolas"/>
              </a:rPr>
              <a:t>Single File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0891" y="5623560"/>
            <a:ext cx="259072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 i="1">
                <a:solidFill>
                  <a:srgbClr val="FF5C2B"/>
                </a:solidFill>
                <a:latin typeface="Cambria"/>
              </a:rPr>
              <a:t>≈ 87%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0891" y="6080760"/>
            <a:ext cx="259072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84807A"/>
                </a:solidFill>
                <a:latin typeface="Consolas"/>
              </a:rPr>
              <a:t>Time saved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4807A"/>
                </a:solidFill>
                <a:latin typeface="Consolas"/>
              </a:rPr>
              <a:t>12 / 13 — STACK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62895" y="6400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84807A"/>
                </a:solidFill>
                <a:latin typeface="Consolas"/>
              </a:rPr>
              <a:t>HTML Checker · v1.0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F5C2B"/>
                </a:solidFill>
                <a:latin typeface="Consolas"/>
              </a:rPr>
              <a:t>§12 ·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5029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84807A"/>
                </a:solidFill>
                <a:latin typeface="Consolas"/>
              </a:rPr>
              <a:t>13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 i="0">
                <a:solidFill>
                  <a:srgbClr val="FFFFFF"/>
                </a:solidFill>
                <a:latin typeface="맑은 고딕"/>
              </a:rPr>
              <a:t>도입 가이드 · 3분이면 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84807A"/>
                </a:solidFill>
                <a:latin typeface="Cambria"/>
              </a:rPr>
              <a:t>설치도, 회원가입도, 백엔드 세팅도 없습니다.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108960"/>
            <a:ext cx="3515258" cy="2377440"/>
          </a:xfrm>
          <a:prstGeom prst="rect">
            <a:avLst/>
          </a:prstGeom>
          <a:solidFill>
            <a:srgbClr val="26221F"/>
          </a:solidFill>
          <a:ln w="6350">
            <a:solidFill>
              <a:srgbClr val="3A3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5400" b="0" i="1">
                <a:solidFill>
                  <a:srgbClr val="FF5C2B"/>
                </a:solidFill>
                <a:latin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97680"/>
            <a:ext cx="27837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맑은 고딕"/>
              </a:rPr>
              <a:t>파일 받기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754880"/>
            <a:ext cx="278373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84807A"/>
                </a:solidFill>
                <a:latin typeface="맑은 고딕"/>
              </a:rPr>
              <a:t>index.html 한 개를 다운로드. 사내 정적 서버 어디든 업로드하면 끝.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8218" y="3108960"/>
            <a:ext cx="3515258" cy="2377440"/>
          </a:xfrm>
          <a:prstGeom prst="rect">
            <a:avLst/>
          </a:prstGeom>
          <a:solidFill>
            <a:srgbClr val="26221F"/>
          </a:solidFill>
          <a:ln w="6350">
            <a:solidFill>
              <a:srgbClr val="3A3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3978" y="3383280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5400" b="0" i="1">
                <a:solidFill>
                  <a:srgbClr val="FF5C2B"/>
                </a:solidFill>
                <a:latin typeface="Cambr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3978" y="4297680"/>
            <a:ext cx="27837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맑은 고딕"/>
              </a:rPr>
              <a:t>URL 공유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3978" y="4754880"/>
            <a:ext cx="278373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84807A"/>
                </a:solidFill>
                <a:latin typeface="맑은 고딕"/>
              </a:rPr>
              <a:t>호스팅 URL을 검수팀 슬랙에 공유. 북마크 추가 권장.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6356" y="3108960"/>
            <a:ext cx="3515258" cy="2377440"/>
          </a:xfrm>
          <a:prstGeom prst="rect">
            <a:avLst/>
          </a:prstGeom>
          <a:solidFill>
            <a:srgbClr val="26221F"/>
          </a:solidFill>
          <a:ln w="6350">
            <a:solidFill>
              <a:srgbClr val="3A3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2116" y="3383280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5400" b="0" i="1">
                <a:solidFill>
                  <a:srgbClr val="FF5C2B"/>
                </a:solidFill>
                <a:latin typeface="Cambr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2116" y="4297680"/>
            <a:ext cx="27837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맑은 고딕"/>
              </a:rPr>
              <a:t>검수 시작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2116" y="4754880"/>
            <a:ext cx="278373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84807A"/>
                </a:solidFill>
                <a:latin typeface="맑은 고딕"/>
              </a:rPr>
              <a:t>EN · JA · KR 파일 3개를 드래그. 자동 분류 · 자동 검출 · 즉시 시작.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" y="5852160"/>
            <a:ext cx="10607040" cy="0"/>
          </a:xfrm>
          <a:prstGeom prst="line">
            <a:avLst/>
          </a:prstGeom>
          <a:ln w="6350">
            <a:solidFill>
              <a:srgbClr val="403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77240" y="60350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5C2B"/>
                </a:solidFill>
                <a:latin typeface="Consolas"/>
              </a:rPr>
              <a:t>https://blankers2.github.io/HTML-checker-dist/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84807A"/>
                </a:solidFill>
                <a:latin typeface="Consolas"/>
              </a:rPr>
              <a:t>기술 문서 · MIGRATION.md  ·  GitHub @Blankers2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035040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